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2918400" cy="402336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-2454" y="-1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468880" y="6584400"/>
            <a:ext cx="27979560" cy="1400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3291840">
              <a:lnSpc>
                <a:spcPct val="90000"/>
              </a:lnSpc>
              <a:buNone/>
              <a:tabLst>
                <a:tab pos="0" algn="l"/>
              </a:tabLst>
              <a:defRPr lang="en-US" sz="216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329184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226332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10904400" y="37290600"/>
            <a:ext cx="1110888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2324880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101AE5D-B3D3-440E-9805-610FF31640B3}" type="slidenum"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263320" y="2142000"/>
            <a:ext cx="28391040" cy="77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3291840">
              <a:lnSpc>
                <a:spcPct val="90000"/>
              </a:lnSpc>
              <a:buNone/>
              <a:tabLst>
                <a:tab pos="0" algn="l"/>
              </a:tabLst>
              <a:defRPr lang="en-US" sz="15839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29184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5839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226332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5"/>
          </p:nvPr>
        </p:nvSpPr>
        <p:spPr>
          <a:xfrm>
            <a:off x="10904400" y="37290600"/>
            <a:ext cx="1110888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sldNum" idx="6"/>
          </p:nvPr>
        </p:nvSpPr>
        <p:spPr>
          <a:xfrm>
            <a:off x="2324880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482B1A5-0D1E-4A79-9FE9-6C8DDA5B93A9}" type="slidenum"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dt" idx="7"/>
          </p:nvPr>
        </p:nvSpPr>
        <p:spPr>
          <a:xfrm>
            <a:off x="226332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ftr" idx="8"/>
          </p:nvPr>
        </p:nvSpPr>
        <p:spPr>
          <a:xfrm>
            <a:off x="10904400" y="37290600"/>
            <a:ext cx="1110888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sldNum" idx="9"/>
          </p:nvPr>
        </p:nvSpPr>
        <p:spPr>
          <a:xfrm>
            <a:off x="2324880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9E758EA-AD44-4A14-8ED8-BC7A70E63019}" type="slidenum"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267280" y="2682360"/>
            <a:ext cx="10616040" cy="938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291840">
              <a:lnSpc>
                <a:spcPct val="90000"/>
              </a:lnSpc>
              <a:buNone/>
              <a:tabLst>
                <a:tab pos="0" algn="l"/>
              </a:tabLst>
              <a:defRPr lang="en-US" sz="1152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29184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152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3994640" y="5792760"/>
            <a:ext cx="16664040" cy="2859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291840">
              <a:lnSpc>
                <a:spcPct val="90000"/>
              </a:lnSpc>
              <a:spcBef>
                <a:spcPts val="3600"/>
              </a:spcBef>
              <a:buClr>
                <a:srgbClr val="000000"/>
              </a:buClr>
              <a:buFont typeface="Arial"/>
              <a:buChar char="•"/>
              <a:defRPr lang="en-US" sz="1152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864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822960" indent="-822960" algn="l" defTabSz="3291840">
              <a:lnSpc>
                <a:spcPct val="90000"/>
              </a:lnSpc>
              <a:spcBef>
                <a:spcPts val="36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52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2468880" lvl="1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4114800" lvl="2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864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5760720" lvl="3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7406640" lvl="4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2267280" y="12070080"/>
            <a:ext cx="10616040" cy="2236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3291840">
              <a:lnSpc>
                <a:spcPct val="90000"/>
              </a:lnSpc>
              <a:spcBef>
                <a:spcPts val="3600"/>
              </a:spcBef>
              <a:buNone/>
              <a:tabLst>
                <a:tab pos="0" algn="l"/>
              </a:tabLst>
              <a:defRPr lang="en-US" sz="57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marL="228600" indent="0" algn="l" defTabSz="3291840">
              <a:lnSpc>
                <a:spcPct val="90000"/>
              </a:lnSpc>
              <a:spcBef>
                <a:spcPts val="3600"/>
              </a:spcBef>
              <a:buNone/>
              <a:tabLst>
                <a:tab pos="0" algn="l"/>
              </a:tabLst>
            </a:pPr>
            <a:r>
              <a:rPr lang="en-US" sz="57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dt" idx="10"/>
          </p:nvPr>
        </p:nvSpPr>
        <p:spPr>
          <a:xfrm>
            <a:off x="226332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11"/>
          </p:nvPr>
        </p:nvSpPr>
        <p:spPr>
          <a:xfrm>
            <a:off x="10904400" y="37290600"/>
            <a:ext cx="1110888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6"/>
          <p:cNvSpPr>
            <a:spLocks noGrp="1"/>
          </p:cNvSpPr>
          <p:nvPr>
            <p:ph type="sldNum" idx="12"/>
          </p:nvPr>
        </p:nvSpPr>
        <p:spPr>
          <a:xfrm>
            <a:off x="2324880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E01C4F7-9AF4-40E9-8620-A0AD25C593DA}" type="slidenum"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267280" y="2682360"/>
            <a:ext cx="10616040" cy="938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291840">
              <a:lnSpc>
                <a:spcPct val="90000"/>
              </a:lnSpc>
              <a:buNone/>
              <a:tabLst>
                <a:tab pos="0" algn="l"/>
              </a:tabLst>
              <a:defRPr lang="en-US" sz="1152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29184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152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3994640" y="5792760"/>
            <a:ext cx="16664040" cy="28590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228600"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152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marL="228600"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152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icon to add picture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2267280" y="12070080"/>
            <a:ext cx="10616040" cy="2236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3291840">
              <a:lnSpc>
                <a:spcPct val="90000"/>
              </a:lnSpc>
              <a:spcBef>
                <a:spcPts val="3600"/>
              </a:spcBef>
              <a:buNone/>
              <a:tabLst>
                <a:tab pos="0" algn="l"/>
              </a:tabLst>
              <a:defRPr lang="en-US" sz="57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marL="228600" indent="0" algn="l" defTabSz="3291840">
              <a:lnSpc>
                <a:spcPct val="90000"/>
              </a:lnSpc>
              <a:spcBef>
                <a:spcPts val="3600"/>
              </a:spcBef>
              <a:buNone/>
              <a:tabLst>
                <a:tab pos="0" algn="l"/>
              </a:tabLst>
            </a:pPr>
            <a:r>
              <a:rPr lang="en-US" sz="57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22" name="PlaceHolder 4"/>
          <p:cNvSpPr>
            <a:spLocks noGrp="1"/>
          </p:cNvSpPr>
          <p:nvPr>
            <p:ph type="dt" idx="13"/>
          </p:nvPr>
        </p:nvSpPr>
        <p:spPr>
          <a:xfrm>
            <a:off x="226332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ftr" idx="14"/>
          </p:nvPr>
        </p:nvSpPr>
        <p:spPr>
          <a:xfrm>
            <a:off x="10904400" y="37290600"/>
            <a:ext cx="1110888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4" name="PlaceHolder 6"/>
          <p:cNvSpPr>
            <a:spLocks noGrp="1"/>
          </p:cNvSpPr>
          <p:nvPr>
            <p:ph type="sldNum" idx="15"/>
          </p:nvPr>
        </p:nvSpPr>
        <p:spPr>
          <a:xfrm>
            <a:off x="2324880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9765BC0-5256-49D4-B13C-DFD369491E97}" type="slidenum"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263320" y="2142000"/>
            <a:ext cx="28391040" cy="77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3291840">
              <a:lnSpc>
                <a:spcPct val="90000"/>
              </a:lnSpc>
              <a:buNone/>
              <a:tabLst>
                <a:tab pos="0" algn="l"/>
              </a:tabLst>
              <a:defRPr lang="en-US" sz="15839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29184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5839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2263320" y="10710360"/>
            <a:ext cx="28391040" cy="255268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3291840">
              <a:lnSpc>
                <a:spcPct val="90000"/>
              </a:lnSpc>
              <a:spcBef>
                <a:spcPts val="3600"/>
              </a:spcBef>
              <a:buClr>
                <a:srgbClr val="000000"/>
              </a:buClr>
              <a:buFont typeface="Arial"/>
              <a:buChar char="•"/>
              <a:def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864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822960" indent="-822960" algn="l" defTabSz="3291840">
              <a:lnSpc>
                <a:spcPct val="90000"/>
              </a:lnSpc>
              <a:spcBef>
                <a:spcPts val="36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2468880" lvl="1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864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4114800" lvl="2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5760720" lvl="3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7406640" lvl="4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226332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10904400" y="37290600"/>
            <a:ext cx="1110888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2324880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970F3E2-148E-4EAE-90C6-876F9F219E40}" type="slidenum"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3557320" y="2142000"/>
            <a:ext cx="7097040" cy="340948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3291840">
              <a:lnSpc>
                <a:spcPct val="90000"/>
              </a:lnSpc>
              <a:buNone/>
              <a:tabLst>
                <a:tab pos="0" algn="l"/>
              </a:tabLst>
              <a:defRPr lang="en-US" sz="15839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29184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5839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2263320" y="2142000"/>
            <a:ext cx="20881440" cy="340948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3291840">
              <a:lnSpc>
                <a:spcPct val="90000"/>
              </a:lnSpc>
              <a:spcBef>
                <a:spcPts val="3600"/>
              </a:spcBef>
              <a:buClr>
                <a:srgbClr val="000000"/>
              </a:buClr>
              <a:buFont typeface="Arial"/>
              <a:buChar char="•"/>
              <a:def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864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822960" indent="-822960" algn="l" defTabSz="3291840">
              <a:lnSpc>
                <a:spcPct val="90000"/>
              </a:lnSpc>
              <a:spcBef>
                <a:spcPts val="36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2468880" lvl="1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864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4114800" lvl="2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5760720" lvl="3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7406640" lvl="4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dt" idx="19"/>
          </p:nvPr>
        </p:nvSpPr>
        <p:spPr>
          <a:xfrm>
            <a:off x="226332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20"/>
          </p:nvPr>
        </p:nvSpPr>
        <p:spPr>
          <a:xfrm>
            <a:off x="10904400" y="37290600"/>
            <a:ext cx="1110888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sldNum" idx="21"/>
          </p:nvPr>
        </p:nvSpPr>
        <p:spPr>
          <a:xfrm>
            <a:off x="2324880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17994E4-4230-4DBC-A0D7-7FAC39F0008A}" type="slidenum"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263320" y="2142000"/>
            <a:ext cx="28391040" cy="77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3291840">
              <a:lnSpc>
                <a:spcPct val="90000"/>
              </a:lnSpc>
              <a:buNone/>
              <a:tabLst>
                <a:tab pos="0" algn="l"/>
              </a:tabLst>
              <a:defRPr lang="en-US" sz="15839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29184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5839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2263320" y="10710360"/>
            <a:ext cx="28391040" cy="2552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291840">
              <a:lnSpc>
                <a:spcPct val="90000"/>
              </a:lnSpc>
              <a:spcBef>
                <a:spcPts val="3600"/>
              </a:spcBef>
              <a:buClr>
                <a:srgbClr val="000000"/>
              </a:buClr>
              <a:buFont typeface="Arial"/>
              <a:buChar char="•"/>
              <a:def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864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822960" indent="-822960" algn="l" defTabSz="3291840">
              <a:lnSpc>
                <a:spcPct val="90000"/>
              </a:lnSpc>
              <a:spcBef>
                <a:spcPts val="36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2468880" lvl="1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864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4114800" lvl="2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5760720" lvl="3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7406640" lvl="4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dt" idx="22"/>
          </p:nvPr>
        </p:nvSpPr>
        <p:spPr>
          <a:xfrm>
            <a:off x="226332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3"/>
          </p:nvPr>
        </p:nvSpPr>
        <p:spPr>
          <a:xfrm>
            <a:off x="10904400" y="37290600"/>
            <a:ext cx="1110888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5"/>
          <p:cNvSpPr>
            <a:spLocks noGrp="1"/>
          </p:cNvSpPr>
          <p:nvPr>
            <p:ph type="sldNum" idx="24"/>
          </p:nvPr>
        </p:nvSpPr>
        <p:spPr>
          <a:xfrm>
            <a:off x="2324880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7978A00-C987-4779-9D21-929BACA49560}" type="slidenum"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246040" y="10030320"/>
            <a:ext cx="28391040" cy="1673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291840">
              <a:lnSpc>
                <a:spcPct val="90000"/>
              </a:lnSpc>
              <a:buNone/>
              <a:tabLst>
                <a:tab pos="0" algn="l"/>
              </a:tabLst>
              <a:defRPr lang="en-US" sz="216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29184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2246040" y="26924760"/>
            <a:ext cx="28391040" cy="87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3291840">
              <a:lnSpc>
                <a:spcPct val="90000"/>
              </a:lnSpc>
              <a:spcBef>
                <a:spcPts val="3600"/>
              </a:spcBef>
              <a:buNone/>
              <a:tabLst>
                <a:tab pos="0" algn="l"/>
              </a:tabLst>
              <a:defRPr lang="en-US" sz="8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marL="228600" indent="0" algn="l" defTabSz="3291840">
              <a:lnSpc>
                <a:spcPct val="90000"/>
              </a:lnSpc>
              <a:spcBef>
                <a:spcPts val="3600"/>
              </a:spcBef>
              <a:buNone/>
              <a:tabLst>
                <a:tab pos="0" algn="l"/>
              </a:tabLst>
            </a:pPr>
            <a:r>
              <a:rPr lang="en-US" sz="8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dt" idx="25"/>
          </p:nvPr>
        </p:nvSpPr>
        <p:spPr>
          <a:xfrm>
            <a:off x="226332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6"/>
          </p:nvPr>
        </p:nvSpPr>
        <p:spPr>
          <a:xfrm>
            <a:off x="10904400" y="37290600"/>
            <a:ext cx="1110888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5"/>
          <p:cNvSpPr>
            <a:spLocks noGrp="1"/>
          </p:cNvSpPr>
          <p:nvPr>
            <p:ph type="sldNum" idx="27"/>
          </p:nvPr>
        </p:nvSpPr>
        <p:spPr>
          <a:xfrm>
            <a:off x="2324880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8C32725-0046-4BAF-AD6F-AA4A4B5854DD}" type="slidenum"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263320" y="2142000"/>
            <a:ext cx="28391040" cy="77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3291840">
              <a:lnSpc>
                <a:spcPct val="90000"/>
              </a:lnSpc>
              <a:buNone/>
              <a:tabLst>
                <a:tab pos="0" algn="l"/>
              </a:tabLst>
              <a:defRPr lang="en-US" sz="15839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29184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5839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2263320" y="10710360"/>
            <a:ext cx="13989240" cy="2552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291840">
              <a:lnSpc>
                <a:spcPct val="90000"/>
              </a:lnSpc>
              <a:spcBef>
                <a:spcPts val="3600"/>
              </a:spcBef>
              <a:buClr>
                <a:srgbClr val="000000"/>
              </a:buClr>
              <a:buFont typeface="Arial"/>
              <a:buChar char="•"/>
              <a:def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864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822960" indent="-822960" algn="l" defTabSz="3291840">
              <a:lnSpc>
                <a:spcPct val="90000"/>
              </a:lnSpc>
              <a:spcBef>
                <a:spcPts val="36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2468880" lvl="1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864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4114800" lvl="2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5760720" lvl="3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7406640" lvl="4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16665120" y="10710360"/>
            <a:ext cx="13989240" cy="2552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291840">
              <a:lnSpc>
                <a:spcPct val="90000"/>
              </a:lnSpc>
              <a:spcBef>
                <a:spcPts val="3600"/>
              </a:spcBef>
              <a:buClr>
                <a:srgbClr val="000000"/>
              </a:buClr>
              <a:buFont typeface="Arial"/>
              <a:buChar char="•"/>
              <a:def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864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def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822960" indent="-822960" algn="l" defTabSz="3291840">
              <a:lnSpc>
                <a:spcPct val="90000"/>
              </a:lnSpc>
              <a:spcBef>
                <a:spcPts val="36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2468880" lvl="1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864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4114800" lvl="2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5760720" lvl="3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7406640" lvl="4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226332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10904400" y="37290600"/>
            <a:ext cx="1110888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2324880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3324585-B8A0-476E-ACF4-44ADBBD2DCF1}" type="slidenum"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267280" y="2142000"/>
            <a:ext cx="28391040" cy="77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3291840">
              <a:lnSpc>
                <a:spcPct val="90000"/>
              </a:lnSpc>
              <a:buNone/>
              <a:tabLst>
                <a:tab pos="0" algn="l"/>
              </a:tabLst>
              <a:defRPr lang="en-US" sz="15839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29184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5839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2267280" y="9862920"/>
            <a:ext cx="13924800" cy="483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3291840">
              <a:lnSpc>
                <a:spcPct val="90000"/>
              </a:lnSpc>
              <a:spcBef>
                <a:spcPts val="3600"/>
              </a:spcBef>
              <a:buNone/>
              <a:tabLst>
                <a:tab pos="0" algn="l"/>
              </a:tabLst>
              <a:defRPr lang="en-US" sz="864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marL="228600" indent="0" algn="l" defTabSz="3291840">
              <a:lnSpc>
                <a:spcPct val="90000"/>
              </a:lnSpc>
              <a:spcBef>
                <a:spcPts val="3600"/>
              </a:spcBef>
              <a:buNone/>
              <a:tabLst>
                <a:tab pos="0" algn="l"/>
              </a:tabLst>
            </a:pPr>
            <a:r>
              <a:rPr lang="en-US" sz="864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864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2267280" y="14696280"/>
            <a:ext cx="13924800" cy="2161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291840">
              <a:lnSpc>
                <a:spcPct val="90000"/>
              </a:lnSpc>
              <a:spcBef>
                <a:spcPts val="36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864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822960" indent="-822960" algn="l" defTabSz="3291840">
              <a:lnSpc>
                <a:spcPct val="90000"/>
              </a:lnSpc>
              <a:spcBef>
                <a:spcPts val="36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2468880" lvl="1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864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4114800" lvl="2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5760720" lvl="3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7406640" lvl="4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16665120" y="9862920"/>
            <a:ext cx="13993560" cy="483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3291840">
              <a:lnSpc>
                <a:spcPct val="90000"/>
              </a:lnSpc>
              <a:spcBef>
                <a:spcPts val="3600"/>
              </a:spcBef>
              <a:buNone/>
              <a:tabLst>
                <a:tab pos="0" algn="l"/>
              </a:tabLst>
              <a:defRPr lang="en-US" sz="864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marL="228600" indent="0" algn="l" defTabSz="3291840">
              <a:lnSpc>
                <a:spcPct val="90000"/>
              </a:lnSpc>
              <a:spcBef>
                <a:spcPts val="3600"/>
              </a:spcBef>
              <a:buNone/>
              <a:tabLst>
                <a:tab pos="0" algn="l"/>
              </a:tabLst>
            </a:pPr>
            <a:r>
              <a:rPr lang="en-US" sz="864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864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16665120" y="14696280"/>
            <a:ext cx="13993560" cy="2161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291840">
              <a:lnSpc>
                <a:spcPct val="90000"/>
              </a:lnSpc>
              <a:spcBef>
                <a:spcPts val="36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864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822960" indent="-822960" algn="l" defTabSz="3291840">
              <a:lnSpc>
                <a:spcPct val="90000"/>
              </a:lnSpc>
              <a:spcBef>
                <a:spcPts val="36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2468880" lvl="1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864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4114800" lvl="2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7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5760720" lvl="3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7406640" lvl="4" indent="-822960" algn="l" defTabSz="329184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64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56" name="PlaceHolder 6"/>
          <p:cNvSpPr>
            <a:spLocks noGrp="1"/>
          </p:cNvSpPr>
          <p:nvPr>
            <p:ph type="dt" idx="31"/>
          </p:nvPr>
        </p:nvSpPr>
        <p:spPr>
          <a:xfrm>
            <a:off x="226332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ftr" idx="32"/>
          </p:nvPr>
        </p:nvSpPr>
        <p:spPr>
          <a:xfrm>
            <a:off x="10904400" y="37290600"/>
            <a:ext cx="1110888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8"/>
          <p:cNvSpPr>
            <a:spLocks noGrp="1"/>
          </p:cNvSpPr>
          <p:nvPr>
            <p:ph type="sldNum" idx="33"/>
          </p:nvPr>
        </p:nvSpPr>
        <p:spPr>
          <a:xfrm>
            <a:off x="23248800" y="37290600"/>
            <a:ext cx="7405560" cy="21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E2C251A-E5AD-46FB-8DCB-A9AD33E04D6D}" type="slidenum">
              <a:rPr lang="en-US" sz="432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github.com/Jillian-Puskar/Building-an-AI-Powered-Knowledge-Base-for-Biomarkers-of-Abnormal-Placentation-Disorders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9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: Rounded Corners 4"/>
          <p:cNvSpPr/>
          <p:nvPr/>
        </p:nvSpPr>
        <p:spPr>
          <a:xfrm>
            <a:off x="12101400" y="4654080"/>
            <a:ext cx="11714760" cy="35605800"/>
          </a:xfrm>
          <a:prstGeom prst="roundRect">
            <a:avLst>
              <a:gd name="adj" fmla="val 52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highlight>
                <a:srgbClr val="FFFF00"/>
              </a:highlight>
              <a:uFillTx/>
              <a:latin typeface="Aptos"/>
            </a:endParaRPr>
          </a:p>
        </p:txBody>
      </p:sp>
      <p:sp>
        <p:nvSpPr>
          <p:cNvPr id="60" name="Rectangle: Rounded Corners 8"/>
          <p:cNvSpPr/>
          <p:nvPr/>
        </p:nvSpPr>
        <p:spPr>
          <a:xfrm>
            <a:off x="23886360" y="4713480"/>
            <a:ext cx="8802360" cy="35546400"/>
          </a:xfrm>
          <a:prstGeom prst="roundRect">
            <a:avLst>
              <a:gd name="adj" fmla="val 58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500" b="0" u="none" strike="noStrike">
              <a:solidFill>
                <a:srgbClr val="212121"/>
              </a:solidFill>
              <a:effectLst/>
              <a:uFillTx/>
              <a:latin typeface="Aptos"/>
            </a:endParaRPr>
          </a:p>
        </p:txBody>
      </p:sp>
      <p:sp>
        <p:nvSpPr>
          <p:cNvPr id="61" name="Rectangle: Rounded Corners 4"/>
          <p:cNvSpPr/>
          <p:nvPr/>
        </p:nvSpPr>
        <p:spPr>
          <a:xfrm>
            <a:off x="316440" y="4686840"/>
            <a:ext cx="11714760" cy="35546400"/>
          </a:xfrm>
          <a:prstGeom prst="roundRect">
            <a:avLst>
              <a:gd name="adj" fmla="val 52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2" name="Rectangle: Rounded Corners 3"/>
          <p:cNvSpPr/>
          <p:nvPr/>
        </p:nvSpPr>
        <p:spPr>
          <a:xfrm>
            <a:off x="228600" y="0"/>
            <a:ext cx="32460120" cy="4685400"/>
          </a:xfrm>
          <a:prstGeom prst="roundRect">
            <a:avLst>
              <a:gd name="adj" fmla="val 16667"/>
            </a:avLst>
          </a:prstGeom>
          <a:solidFill>
            <a:srgbClr val="0097A7"/>
          </a:solidFill>
          <a:ln>
            <a:solidFill>
              <a:srgbClr val="3539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3" name="Rectangle 9"/>
          <p:cNvSpPr/>
          <p:nvPr/>
        </p:nvSpPr>
        <p:spPr>
          <a:xfrm>
            <a:off x="14817240" y="1153800"/>
            <a:ext cx="17528760" cy="217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6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Building an AI-Powered Knowledge Base for Biomarkers of Abnormal Placentation Disorders</a:t>
            </a:r>
            <a:endParaRPr lang="en-U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7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" name="Picture 11" descr="A white and gold logo&#10;&#10;Description automatically generated"/>
          <p:cNvPicPr/>
          <p:nvPr/>
        </p:nvPicPr>
        <p:blipFill>
          <a:blip r:embed="rId2"/>
          <a:stretch/>
        </p:blipFill>
        <p:spPr>
          <a:xfrm>
            <a:off x="1777320" y="0"/>
            <a:ext cx="4020480" cy="310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347240" y="-225720"/>
            <a:ext cx="6536880" cy="366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Box 14"/>
          <p:cNvSpPr/>
          <p:nvPr/>
        </p:nvSpPr>
        <p:spPr>
          <a:xfrm>
            <a:off x="647640" y="2987640"/>
            <a:ext cx="16021440" cy="132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AIBIDS is supported by grant R25LM014208 from the National Library of Medicine and a Momentum Grant from the University of Pittsburgh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​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16"/>
          <p:cNvSpPr/>
          <p:nvPr/>
        </p:nvSpPr>
        <p:spPr>
          <a:xfrm>
            <a:off x="17201520" y="3238920"/>
            <a:ext cx="1344528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5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Puskar, Jillian E.; Gopalakrishnan, Vanathi</a:t>
            </a:r>
          </a:p>
        </p:txBody>
      </p:sp>
      <p:sp>
        <p:nvSpPr>
          <p:cNvPr id="68" name="TextBox 18"/>
          <p:cNvSpPr/>
          <p:nvPr/>
        </p:nvSpPr>
        <p:spPr>
          <a:xfrm>
            <a:off x="3445920" y="5230440"/>
            <a:ext cx="470412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500" b="1" u="none" strike="noStrike">
                <a:solidFill>
                  <a:srgbClr val="0097A7"/>
                </a:solidFill>
                <a:effectLst/>
                <a:uFillTx/>
                <a:latin typeface="Arial"/>
              </a:rPr>
              <a:t>Introduction</a:t>
            </a:r>
            <a:endParaRPr lang="en-U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0"/>
          <p:cNvSpPr/>
          <p:nvPr/>
        </p:nvSpPr>
        <p:spPr>
          <a:xfrm>
            <a:off x="480960" y="6228360"/>
            <a:ext cx="11411640" cy="150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685800" indent="-6858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Abnormal placentation disorders are associated with severe hemorrhage and invasive treatments during pregnancy and are on the rise due to several factors such as an increase in prior cesarean sections.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6858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Placenta accreta spectrum (PAS), a condition caused by the abnormal adherence of the placenta to the uterine wall, occurs in 1 in 272 pregnancies.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6858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Placenta previa (PP), a condition in which the placenta implants low into the uterus and blocks the cervix, occurs in 4 in every 1000 pregnancies.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6858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While multimodal biomarkers exist and may inform diagnosis or prognosis there is a lack of any readily accessible knowledge base (KB) for this problem.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6858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Generative AI </a:t>
            </a: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has made human-AI co-work possible for the efficient integrative discovery of multimodal biomarkers from literature.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6858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an AI assistant, we built a preliminary large language model (LLM)-powered KB using a markdown-format repository to quantify and profile known biomarkers of abnormal placentation disorders, using PAS and placenta previa as the initial exploratory case studies. 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2"/>
          <p:cNvSpPr/>
          <p:nvPr/>
        </p:nvSpPr>
        <p:spPr>
          <a:xfrm>
            <a:off x="16494480" y="5230440"/>
            <a:ext cx="290988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500" b="1" u="none" strike="noStrike">
                <a:solidFill>
                  <a:srgbClr val="0097A7"/>
                </a:solidFill>
                <a:effectLst/>
                <a:uFillTx/>
                <a:latin typeface="Arial"/>
              </a:rPr>
              <a:t>Results</a:t>
            </a:r>
            <a:endParaRPr lang="en-U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9"/>
          <p:cNvSpPr/>
          <p:nvPr/>
        </p:nvSpPr>
        <p:spPr>
          <a:xfrm>
            <a:off x="4391280" y="22460760"/>
            <a:ext cx="339264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500" b="1" u="none" strike="noStrike">
                <a:solidFill>
                  <a:srgbClr val="0097A7"/>
                </a:solidFill>
                <a:effectLst/>
                <a:uFillTx/>
                <a:latin typeface="Arial"/>
              </a:rPr>
              <a:t>Methods</a:t>
            </a:r>
            <a:endParaRPr lang="en-U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3"/>
          <p:cNvSpPr/>
          <p:nvPr/>
        </p:nvSpPr>
        <p:spPr>
          <a:xfrm>
            <a:off x="25676280" y="29998800"/>
            <a:ext cx="458640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500" b="1" u="none" strike="noStrike">
                <a:solidFill>
                  <a:srgbClr val="0097A7"/>
                </a:solidFill>
                <a:effectLst/>
                <a:uFillTx/>
                <a:latin typeface="Arial"/>
              </a:rPr>
              <a:t>Conclusion</a:t>
            </a:r>
            <a:endParaRPr lang="en-U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5"/>
          <p:cNvSpPr/>
          <p:nvPr/>
        </p:nvSpPr>
        <p:spPr>
          <a:xfrm>
            <a:off x="25336440" y="33568200"/>
            <a:ext cx="590004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500" b="1" u="none" strike="noStrike">
                <a:solidFill>
                  <a:srgbClr val="0097A7"/>
                </a:solidFill>
                <a:effectLst/>
                <a:uFillTx/>
                <a:latin typeface="Arial"/>
              </a:rPr>
              <a:t>Acknowledgements</a:t>
            </a:r>
            <a:endParaRPr lang="en-U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25565040" y="35516880"/>
            <a:ext cx="544284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500" b="1" u="none" strike="noStrike">
                <a:solidFill>
                  <a:srgbClr val="0097A7"/>
                </a:solidFill>
                <a:effectLst/>
                <a:uFillTx/>
                <a:latin typeface="Arial"/>
              </a:rPr>
              <a:t>GitHub Repository</a:t>
            </a:r>
            <a:endParaRPr lang="en-U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24012000" y="15539040"/>
            <a:ext cx="8805240" cy="1517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500" b="1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Challenges: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500" b="1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Strengths:</a:t>
            </a: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 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Demonstrated that human-AI co-work is feasible to create a preliminary knowledge repository from literature and harness relationships in a new domain. 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Infrastructure is self-evolving, built incrementally.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Output is human-readable. 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Identified &gt;300 biomarkers for PAS, PP.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Human-AI co-work efficiency gains.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500" b="1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Limitations: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Only used Claude (Sonnet 5) for KB.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Only used PubMed for literature search.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Used a paid version of a Claude model.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No pathway analysis was conducted on the data.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Unsure if knowledge base scales for higher quantities of source data.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24054480" y="30726000"/>
            <a:ext cx="8745480" cy="278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5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Our research provides outputs useful for future research, like data for calculating prior probability, preliminary associations, gaps to guide subsequent research, and strategy for developing larger-scale KBs.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Flowchart: Alternate Process 4"/>
          <p:cNvSpPr/>
          <p:nvPr/>
        </p:nvSpPr>
        <p:spPr>
          <a:xfrm>
            <a:off x="596520" y="24513840"/>
            <a:ext cx="5052960" cy="1163160"/>
          </a:xfrm>
          <a:prstGeom prst="flowChartAlternateProcess">
            <a:avLst/>
          </a:prstGeom>
          <a:solidFill>
            <a:schemeClr val="accent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Literature Search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Flowchart: Alternate Process 7"/>
          <p:cNvSpPr/>
          <p:nvPr/>
        </p:nvSpPr>
        <p:spPr>
          <a:xfrm>
            <a:off x="596160" y="26474040"/>
            <a:ext cx="5052960" cy="1168200"/>
          </a:xfrm>
          <a:prstGeom prst="flowChartAlternateProcess">
            <a:avLst/>
          </a:prstGeom>
          <a:solidFill>
            <a:schemeClr val="accent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Create File Structure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Flowchart: Alternate Process 9"/>
          <p:cNvSpPr/>
          <p:nvPr/>
        </p:nvSpPr>
        <p:spPr>
          <a:xfrm>
            <a:off x="596160" y="28413360"/>
            <a:ext cx="5052960" cy="1312560"/>
          </a:xfrm>
          <a:prstGeom prst="flowChartAlternateProcess">
            <a:avLst/>
          </a:prstGeom>
          <a:solidFill>
            <a:schemeClr val="accent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Create Context (CLAUDE.md)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Flowchart: Alternate Process 11"/>
          <p:cNvSpPr/>
          <p:nvPr/>
        </p:nvSpPr>
        <p:spPr>
          <a:xfrm>
            <a:off x="628560" y="30515040"/>
            <a:ext cx="5052960" cy="1217520"/>
          </a:xfrm>
          <a:prstGeom prst="flowChartAlternateProcess">
            <a:avLst/>
          </a:prstGeom>
          <a:solidFill>
            <a:schemeClr val="accent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Create YAML Document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Flowchart: Alternate Process 13"/>
          <p:cNvSpPr/>
          <p:nvPr/>
        </p:nvSpPr>
        <p:spPr>
          <a:xfrm>
            <a:off x="628560" y="32467320"/>
            <a:ext cx="5052960" cy="1312560"/>
          </a:xfrm>
          <a:prstGeom prst="flowChartAlternateProcess">
            <a:avLst/>
          </a:prstGeom>
          <a:solidFill>
            <a:schemeClr val="accent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Invoke Claude in Project Directory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Flowchart: Alternate Process 15"/>
          <p:cNvSpPr/>
          <p:nvPr/>
        </p:nvSpPr>
        <p:spPr>
          <a:xfrm>
            <a:off x="628560" y="34555680"/>
            <a:ext cx="5052960" cy="1134360"/>
          </a:xfrm>
          <a:prstGeom prst="flowChartAlternateProcess">
            <a:avLst/>
          </a:prstGeom>
          <a:solidFill>
            <a:schemeClr val="accent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“Ingest” Raw Data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Flowchart: Alternate Process 17"/>
          <p:cNvSpPr/>
          <p:nvPr/>
        </p:nvSpPr>
        <p:spPr>
          <a:xfrm>
            <a:off x="549720" y="36398520"/>
            <a:ext cx="5052960" cy="1063080"/>
          </a:xfrm>
          <a:prstGeom prst="flowChartAlternateProcess">
            <a:avLst/>
          </a:prstGeom>
          <a:solidFill>
            <a:schemeClr val="accent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Validate Outputs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Flowchart: Terminator 21"/>
          <p:cNvSpPr/>
          <p:nvPr/>
        </p:nvSpPr>
        <p:spPr>
          <a:xfrm>
            <a:off x="6498000" y="26472600"/>
            <a:ext cx="5200560" cy="1117440"/>
          </a:xfrm>
          <a:prstGeom prst="flowChartTerminator">
            <a:avLst/>
          </a:prstGeom>
          <a:solidFill>
            <a:srgbClr val="B2EBF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Done in Obsidian, stored locally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Flowchart: Terminator 25"/>
          <p:cNvSpPr/>
          <p:nvPr/>
        </p:nvSpPr>
        <p:spPr>
          <a:xfrm>
            <a:off x="6478560" y="34554960"/>
            <a:ext cx="5122440" cy="1134360"/>
          </a:xfrm>
          <a:prstGeom prst="flowChartTerminator">
            <a:avLst/>
          </a:prstGeom>
          <a:solidFill>
            <a:srgbClr val="B2EBF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Done in batches (recommended)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Flowchart: Terminator 29"/>
          <p:cNvSpPr/>
          <p:nvPr/>
        </p:nvSpPr>
        <p:spPr>
          <a:xfrm>
            <a:off x="6498000" y="30025800"/>
            <a:ext cx="5200560" cy="2118600"/>
          </a:xfrm>
          <a:prstGeom prst="flowChartTerminator">
            <a:avLst/>
          </a:prstGeom>
          <a:solidFill>
            <a:srgbClr val="B2EBF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Structures output, reduces token usage, increases interoperability and interpretability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Flowchart: Alternate Process 31"/>
          <p:cNvSpPr/>
          <p:nvPr/>
        </p:nvSpPr>
        <p:spPr>
          <a:xfrm>
            <a:off x="572040" y="38250360"/>
            <a:ext cx="5052960" cy="1708560"/>
          </a:xfrm>
          <a:prstGeom prst="flowChartAlternateProcess">
            <a:avLst/>
          </a:prstGeom>
          <a:solidFill>
            <a:schemeClr val="accent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Statistical Analysis and Knowledge Graph Generation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8" name="Straight Arrow Connector 41"/>
          <p:cNvCxnSpPr/>
          <p:nvPr/>
        </p:nvCxnSpPr>
        <p:spPr>
          <a:xfrm>
            <a:off x="3080520" y="25702920"/>
            <a:ext cx="720" cy="788760"/>
          </a:xfrm>
          <a:prstGeom prst="straightConnector1">
            <a:avLst/>
          </a:prstGeom>
          <a:ln w="101600">
            <a:solidFill>
              <a:srgbClr val="212121"/>
            </a:solidFill>
            <a:round/>
            <a:tailEnd type="triangle" w="med" len="med"/>
          </a:ln>
        </p:spPr>
      </p:cxnSp>
      <p:cxnSp>
        <p:nvCxnSpPr>
          <p:cNvPr id="89" name="Straight Arrow Connector 50"/>
          <p:cNvCxnSpPr/>
          <p:nvPr/>
        </p:nvCxnSpPr>
        <p:spPr>
          <a:xfrm>
            <a:off x="9486720" y="21970080"/>
            <a:ext cx="915120" cy="915120"/>
          </a:xfrm>
          <a:prstGeom prst="straightConnector1">
            <a:avLst/>
          </a:prstGeom>
          <a:ln w="0">
            <a:noFill/>
          </a:ln>
        </p:spPr>
      </p:cxnSp>
      <p:sp>
        <p:nvSpPr>
          <p:cNvPr id="90" name="TextBox 5"/>
          <p:cNvSpPr/>
          <p:nvPr/>
        </p:nvSpPr>
        <p:spPr>
          <a:xfrm>
            <a:off x="12164040" y="6125040"/>
            <a:ext cx="11616480" cy="670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Literature search yielded 30 full-text, accessible papers.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Manual extraction yielded </a:t>
            </a:r>
            <a:r>
              <a:rPr lang="en-US" sz="3500" dirty="0">
                <a:solidFill>
                  <a:srgbClr val="212121"/>
                </a:solidFill>
                <a:latin typeface="Arial"/>
              </a:rPr>
              <a:t>318</a:t>
            </a: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 potential biomarkers.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Before training: Claude yielded 14 (circulating) biomarkers. 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After review: Claude yielded ~145 (multimodal) potential biomarkers, needing evaluation.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1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Full results of the study can be found in our GitHub repository.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4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572040" y="23209920"/>
            <a:ext cx="11104200" cy="18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5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Tools: Claude Code, Obsidian, PubMed, Simple Graph Builder (Obsidian community plugin), BioRender.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12164040" y="38757600"/>
            <a:ext cx="11759760" cy="14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Listing 2</a:t>
            </a:r>
            <a:r>
              <a:rPr lang="en-US" sz="30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: BioRender concept map of the relationship between PAS and trophoblastic invasion as generated by a knowledge graph. Nodes with dashed borders are denoted as “molecules.”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12164040" y="16967520"/>
            <a:ext cx="11598840" cy="216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Table 1</a:t>
            </a:r>
            <a:r>
              <a:rPr lang="en-US" sz="30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:  Five biomarkers with the highest reference count from our dataset shown along with their associated source for the biological sample analyzed, reference count from source data, and condition. </a:t>
            </a:r>
            <a:endParaRPr lang="en-US" sz="3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4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4" name="Straight Arrow Connector 112"/>
          <p:cNvCxnSpPr/>
          <p:nvPr/>
        </p:nvCxnSpPr>
        <p:spPr>
          <a:xfrm>
            <a:off x="5668920" y="27057960"/>
            <a:ext cx="829440" cy="720"/>
          </a:xfrm>
          <a:prstGeom prst="straightConnector1">
            <a:avLst/>
          </a:prstGeom>
          <a:ln w="101600">
            <a:solidFill>
              <a:srgbClr val="212121"/>
            </a:solidFill>
            <a:prstDash val="sysDot"/>
            <a:round/>
            <a:tailEnd type="triangle" w="med" len="med"/>
          </a:ln>
        </p:spPr>
      </p:cxnSp>
      <p:cxnSp>
        <p:nvCxnSpPr>
          <p:cNvPr id="95" name="Straight Arrow Connector 114"/>
          <p:cNvCxnSpPr/>
          <p:nvPr/>
        </p:nvCxnSpPr>
        <p:spPr>
          <a:xfrm>
            <a:off x="5693760" y="31079160"/>
            <a:ext cx="829440" cy="720"/>
          </a:xfrm>
          <a:prstGeom prst="straightConnector1">
            <a:avLst/>
          </a:prstGeom>
          <a:ln w="101600">
            <a:solidFill>
              <a:srgbClr val="212121"/>
            </a:solidFill>
            <a:prstDash val="sysDot"/>
            <a:round/>
            <a:tailEnd type="triangle" w="med" len="med"/>
          </a:ln>
        </p:spPr>
      </p:cxnSp>
      <p:cxnSp>
        <p:nvCxnSpPr>
          <p:cNvPr id="96" name="Straight Arrow Connector 119"/>
          <p:cNvCxnSpPr/>
          <p:nvPr/>
        </p:nvCxnSpPr>
        <p:spPr>
          <a:xfrm>
            <a:off x="3054600" y="27642240"/>
            <a:ext cx="720" cy="789120"/>
          </a:xfrm>
          <a:prstGeom prst="straightConnector1">
            <a:avLst/>
          </a:prstGeom>
          <a:ln w="101600">
            <a:solidFill>
              <a:srgbClr val="212121"/>
            </a:solidFill>
            <a:round/>
            <a:tailEnd type="triangle" w="med" len="med"/>
          </a:ln>
        </p:spPr>
      </p:cxnSp>
      <p:cxnSp>
        <p:nvCxnSpPr>
          <p:cNvPr id="97" name="Straight Arrow Connector 120"/>
          <p:cNvCxnSpPr/>
          <p:nvPr/>
        </p:nvCxnSpPr>
        <p:spPr>
          <a:xfrm>
            <a:off x="3083760" y="27820800"/>
            <a:ext cx="720" cy="788760"/>
          </a:xfrm>
          <a:prstGeom prst="straightConnector1">
            <a:avLst/>
          </a:prstGeom>
          <a:ln w="101600">
            <a:solidFill>
              <a:srgbClr val="212121"/>
            </a:solidFill>
            <a:round/>
            <a:tailEnd type="triangle" w="med" len="med"/>
          </a:ln>
        </p:spPr>
      </p:cxnSp>
      <p:cxnSp>
        <p:nvCxnSpPr>
          <p:cNvPr id="98" name="Straight Arrow Connector 121"/>
          <p:cNvCxnSpPr/>
          <p:nvPr/>
        </p:nvCxnSpPr>
        <p:spPr>
          <a:xfrm>
            <a:off x="3032640" y="31732920"/>
            <a:ext cx="720" cy="788760"/>
          </a:xfrm>
          <a:prstGeom prst="straightConnector1">
            <a:avLst/>
          </a:prstGeom>
          <a:ln w="101600">
            <a:solidFill>
              <a:srgbClr val="212121"/>
            </a:solidFill>
            <a:round/>
            <a:tailEnd type="triangle" w="med" len="med"/>
          </a:ln>
        </p:spPr>
      </p:cxnSp>
      <p:cxnSp>
        <p:nvCxnSpPr>
          <p:cNvPr id="99" name="Straight Arrow Connector 122"/>
          <p:cNvCxnSpPr/>
          <p:nvPr/>
        </p:nvCxnSpPr>
        <p:spPr>
          <a:xfrm>
            <a:off x="3031200" y="33775200"/>
            <a:ext cx="720" cy="788760"/>
          </a:xfrm>
          <a:prstGeom prst="straightConnector1">
            <a:avLst/>
          </a:prstGeom>
          <a:ln w="101600">
            <a:solidFill>
              <a:srgbClr val="212121"/>
            </a:solidFill>
            <a:round/>
            <a:tailEnd type="triangle" w="med" len="med"/>
          </a:ln>
        </p:spPr>
      </p:cxnSp>
      <p:cxnSp>
        <p:nvCxnSpPr>
          <p:cNvPr id="100" name="Straight Arrow Connector 123"/>
          <p:cNvCxnSpPr/>
          <p:nvPr/>
        </p:nvCxnSpPr>
        <p:spPr>
          <a:xfrm>
            <a:off x="3031200" y="35654760"/>
            <a:ext cx="720" cy="788760"/>
          </a:xfrm>
          <a:prstGeom prst="straightConnector1">
            <a:avLst/>
          </a:prstGeom>
          <a:ln w="101600">
            <a:solidFill>
              <a:srgbClr val="212121"/>
            </a:solidFill>
            <a:round/>
            <a:tailEnd type="triangle" w="med" len="med"/>
          </a:ln>
        </p:spPr>
      </p:cxnSp>
      <p:cxnSp>
        <p:nvCxnSpPr>
          <p:cNvPr id="101" name="Straight Arrow Connector 124"/>
          <p:cNvCxnSpPr/>
          <p:nvPr/>
        </p:nvCxnSpPr>
        <p:spPr>
          <a:xfrm>
            <a:off x="5693760" y="35123040"/>
            <a:ext cx="829440" cy="720"/>
          </a:xfrm>
          <a:prstGeom prst="straightConnector1">
            <a:avLst/>
          </a:prstGeom>
          <a:ln w="101600">
            <a:solidFill>
              <a:srgbClr val="212121"/>
            </a:solidFill>
            <a:prstDash val="sysDot"/>
            <a:round/>
            <a:tailEnd type="triangle" w="med" len="med"/>
          </a:ln>
        </p:spPr>
      </p:cxnSp>
      <p:cxnSp>
        <p:nvCxnSpPr>
          <p:cNvPr id="102" name="Straight Arrow Connector 125"/>
          <p:cNvCxnSpPr/>
          <p:nvPr/>
        </p:nvCxnSpPr>
        <p:spPr>
          <a:xfrm>
            <a:off x="3031200" y="37461960"/>
            <a:ext cx="720" cy="788760"/>
          </a:xfrm>
          <a:prstGeom prst="straightConnector1">
            <a:avLst/>
          </a:prstGeom>
          <a:ln w="101600">
            <a:solidFill>
              <a:srgbClr val="212121"/>
            </a:solidFill>
            <a:round/>
            <a:tailEnd type="triangle" w="med" len="med"/>
          </a:ln>
        </p:spPr>
      </p:cxnSp>
      <p:cxnSp>
        <p:nvCxnSpPr>
          <p:cNvPr id="103" name="Straight Arrow Connector 126"/>
          <p:cNvCxnSpPr/>
          <p:nvPr/>
        </p:nvCxnSpPr>
        <p:spPr>
          <a:xfrm>
            <a:off x="5614920" y="36929880"/>
            <a:ext cx="829440" cy="720"/>
          </a:xfrm>
          <a:prstGeom prst="straightConnector1">
            <a:avLst/>
          </a:prstGeom>
          <a:ln w="101600">
            <a:solidFill>
              <a:srgbClr val="212121"/>
            </a:solidFill>
            <a:prstDash val="sysDot"/>
            <a:round/>
            <a:tailEnd type="triangle" w="med" len="med"/>
          </a:ln>
        </p:spPr>
      </p:cxnSp>
      <p:sp>
        <p:nvSpPr>
          <p:cNvPr id="104" name="Flowchart: Terminator 128"/>
          <p:cNvSpPr/>
          <p:nvPr/>
        </p:nvSpPr>
        <p:spPr>
          <a:xfrm>
            <a:off x="6435000" y="36187920"/>
            <a:ext cx="5160960" cy="1445040"/>
          </a:xfrm>
          <a:prstGeom prst="flowChartTerminator">
            <a:avLst/>
          </a:prstGeom>
          <a:solidFill>
            <a:srgbClr val="B2EBF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Human and LLM-as-a-judge evaluation techniques used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2"/>
          <p:cNvSpPr/>
          <p:nvPr/>
        </p:nvSpPr>
        <p:spPr>
          <a:xfrm>
            <a:off x="26997480" y="5230440"/>
            <a:ext cx="290988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500" b="1" u="none" strike="noStrike">
                <a:solidFill>
                  <a:srgbClr val="0097A7"/>
                </a:solidFill>
                <a:effectLst/>
                <a:uFillTx/>
                <a:latin typeface="Arial"/>
              </a:rPr>
              <a:t>Validation</a:t>
            </a:r>
            <a:endParaRPr lang="en-U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23910480" y="6026760"/>
            <a:ext cx="8802360" cy="1101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Baselines were generated by Gemini (3.5 Thinking), GPT (5.5), &amp; Claude (Opus 4.8), paraphrased manually.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Five categories of evaluation: Accuracy, Relevance, Clarity, Completeness, &amp; Falsity.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The evaluator rates its output against gathered baselines &amp; the source data based on the rubric with PASS/FAIL.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The same rubric was used to validate the AI-evaluator’s evaluation against human validation ratings of the knowledge base.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Prompting strategies used: contextual, non-contextual, argumentative, querying. 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r>
              <a:rPr lang="en-US" sz="3500" b="1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Full results of the validation can be found in our GitHub repository.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4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Straight Arrow Connector 112"/>
          <p:cNvCxnSpPr/>
          <p:nvPr/>
        </p:nvCxnSpPr>
        <p:spPr>
          <a:xfrm>
            <a:off x="5668920" y="29111400"/>
            <a:ext cx="829440" cy="720"/>
          </a:xfrm>
          <a:prstGeom prst="straightConnector1">
            <a:avLst/>
          </a:prstGeom>
          <a:ln w="101600">
            <a:solidFill>
              <a:srgbClr val="212121"/>
            </a:solidFill>
            <a:prstDash val="sysDot"/>
            <a:round/>
            <a:tailEnd type="triangle" w="med" len="med"/>
          </a:ln>
        </p:spPr>
      </p:cxnSp>
      <p:sp>
        <p:nvSpPr>
          <p:cNvPr id="108" name="Flowchart: Terminator 21"/>
          <p:cNvSpPr/>
          <p:nvPr/>
        </p:nvSpPr>
        <p:spPr>
          <a:xfrm>
            <a:off x="6478560" y="28369080"/>
            <a:ext cx="5220000" cy="1411200"/>
          </a:xfrm>
          <a:prstGeom prst="flowChartTerminator">
            <a:avLst/>
          </a:prstGeom>
          <a:solidFill>
            <a:srgbClr val="B2EBF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To replace Retrieval-Augmented Generation (RAG) use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24042960" y="8503200"/>
            <a:ext cx="11104200" cy="124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4"/>
          <p:cNvSpPr/>
          <p:nvPr/>
        </p:nvSpPr>
        <p:spPr>
          <a:xfrm>
            <a:off x="23910480" y="34376760"/>
            <a:ext cx="8906400" cy="11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you to Dr. Richard Boyce (AIBIDS) &amp; Claire Manalo for feedback on our project.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Flowchart: Terminator 25"/>
          <p:cNvSpPr/>
          <p:nvPr/>
        </p:nvSpPr>
        <p:spPr>
          <a:xfrm>
            <a:off x="6474240" y="24658920"/>
            <a:ext cx="5224320" cy="863640"/>
          </a:xfrm>
          <a:prstGeom prst="flowChartTerminator">
            <a:avLst/>
          </a:prstGeom>
          <a:solidFill>
            <a:srgbClr val="B2EBF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From PubMed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2" name="Straight Arrow Connector 112"/>
          <p:cNvCxnSpPr/>
          <p:nvPr/>
        </p:nvCxnSpPr>
        <p:spPr>
          <a:xfrm>
            <a:off x="5639040" y="25063560"/>
            <a:ext cx="829440" cy="720"/>
          </a:xfrm>
          <a:prstGeom prst="straightConnector1">
            <a:avLst/>
          </a:prstGeom>
          <a:ln w="101600">
            <a:solidFill>
              <a:srgbClr val="212121"/>
            </a:solidFill>
            <a:prstDash val="sysDot"/>
            <a:round/>
            <a:tailEnd type="triangle" w="med" len="med"/>
          </a:ln>
        </p:spPr>
      </p:cxnSp>
      <p:graphicFrame>
        <p:nvGraphicFramePr>
          <p:cNvPr id="113" name="Table 36"/>
          <p:cNvGraphicFramePr/>
          <p:nvPr>
            <p:extLst>
              <p:ext uri="{D42A27DB-BD31-4B8C-83A1-F6EECF244321}">
                <p14:modId xmlns:p14="http://schemas.microsoft.com/office/powerpoint/2010/main" val="2450651740"/>
              </p:ext>
            </p:extLst>
          </p:nvPr>
        </p:nvGraphicFramePr>
        <p:xfrm>
          <a:off x="12271680" y="11104920"/>
          <a:ext cx="11349000" cy="5938560"/>
        </p:xfrm>
        <a:graphic>
          <a:graphicData uri="http://schemas.openxmlformats.org/drawingml/2006/table">
            <a:tbl>
              <a:tblPr/>
              <a:tblGrid>
                <a:gridCol w="3349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73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3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Biomarkers</a:t>
                      </a:r>
                      <a:endParaRPr lang="en-US" sz="3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>
                      <a:solidFill>
                        <a:srgbClr val="212121"/>
                      </a:solidFill>
                      <a:prstDash val="soli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3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Source(s)</a:t>
                      </a:r>
                      <a:endParaRPr lang="en-US" sz="3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>
                      <a:solidFill>
                        <a:srgbClr val="212121"/>
                      </a:solidFill>
                      <a:prstDash val="soli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3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Count</a:t>
                      </a:r>
                      <a:endParaRPr lang="en-US" sz="3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>
                      <a:solidFill>
                        <a:srgbClr val="212121"/>
                      </a:solidFill>
                      <a:prstDash val="soli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3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Assoc. Condition(s)</a:t>
                      </a:r>
                      <a:endParaRPr lang="en-US" sz="3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>
                      <a:solidFill>
                        <a:srgbClr val="212121"/>
                      </a:solidFill>
                      <a:prstDash val="soli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sFlt-1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>
                      <a:solidFill>
                        <a:srgbClr val="212121"/>
                      </a:solidFill>
                      <a:prstDash val="soli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Blood deriv.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>
                      <a:solidFill>
                        <a:srgbClr val="212121"/>
                      </a:solidFill>
                      <a:prstDash val="soli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>
                      <a:solidFill>
                        <a:srgbClr val="212121"/>
                      </a:solidFill>
                      <a:prstDash val="soli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PAS, PP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>
                      <a:solidFill>
                        <a:srgbClr val="212121"/>
                      </a:solidFill>
                      <a:prstDash val="soli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PlGF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Blood deriv., tissue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PAS, PP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4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VEGF, VEGF-A, VEGF-C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Blood deriv.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PAS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7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l-GR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β-</a:t>
                      </a:r>
                      <a:r>
                        <a:rPr lang="en-US" sz="30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hCG</a:t>
                      </a: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 (Free, Intact, -H)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Blood deriv.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PAS, PP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4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PAPP-A, PAPP-AS1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212121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Blood deriv., tissue 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212121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212121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3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PAS, PP</a:t>
                      </a:r>
                      <a:endParaRPr lang="en-US" sz="3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212121"/>
                      </a:solidFill>
                      <a:prstDash val="solid"/>
                    </a:lnL>
                    <a:lnR w="12240">
                      <a:solidFill>
                        <a:srgbClr val="212121"/>
                      </a:solidFill>
                      <a:prstDash val="solid"/>
                    </a:lnR>
                    <a:lnT w="1224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212121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4" name="Rectangle 41"/>
          <p:cNvSpPr/>
          <p:nvPr/>
        </p:nvSpPr>
        <p:spPr>
          <a:xfrm>
            <a:off x="12271680" y="18397440"/>
            <a:ext cx="11332800" cy="11056680"/>
          </a:xfrm>
          <a:prstGeom prst="rect">
            <a:avLst/>
          </a:prstGeom>
          <a:solidFill>
            <a:srgbClr val="B2EBF2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4A4A4A"/>
                </a:solidFill>
                <a:effectLst/>
                <a:uFillTx/>
                <a:latin typeface="Arial"/>
              </a:rPr>
              <a:t>  “</a:t>
            </a:r>
            <a:r>
              <a:rPr lang="en-US" sz="2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</a:rPr>
              <a:t>papp_a_plus_free_beta_hcg</a:t>
            </a: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: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 	</a:t>
            </a:r>
            <a:r>
              <a:rPr lang="en-US" sz="2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</a:rPr>
              <a:t>source_id</a:t>
            </a: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: src_ijms26_06187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 	</a:t>
            </a:r>
            <a:r>
              <a:rPr lang="en-US" sz="2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</a:rPr>
              <a:t>biomarker_ids</a:t>
            </a: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: [PAPP-A, </a:t>
            </a:r>
            <a:r>
              <a:rPr lang="en-US" sz="2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</a:rPr>
              <a:t>free_beta_hCG</a:t>
            </a: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]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 	technology: </a:t>
            </a:r>
            <a:r>
              <a:rPr lang="en-US" sz="2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</a:rPr>
              <a:t>logistic_regression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	</a:t>
            </a:r>
            <a:r>
              <a:rPr lang="en-US" sz="2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</a:rPr>
              <a:t>method_note</a:t>
            </a: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: &gt;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   		PAPP-A values were inverted (since it trends down 				while β-</a:t>
            </a:r>
            <a:r>
              <a:rPr lang="en-US" sz="2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</a:rPr>
              <a:t>hCG</a:t>
            </a: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 trends up) and both markers min-max 				normalized before fitting a logistic regression; predicted 			probabilities were then used for ROC/AUC estimation.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	 results: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   		- comparison: "control vs. PAS"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     			</a:t>
            </a:r>
            <a:r>
              <a:rPr lang="en-US" sz="2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</a:rPr>
              <a:t>auc</a:t>
            </a: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: 0.85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     			</a:t>
            </a:r>
            <a:r>
              <a:rPr lang="en-US" sz="2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</a:rPr>
              <a:t>sensitivity_pct</a:t>
            </a: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: 85.2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     			</a:t>
            </a:r>
            <a:r>
              <a:rPr lang="en-US" sz="2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</a:rPr>
              <a:t>specificity_pct</a:t>
            </a: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: 72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     			cutoff: "0.48 (predicted probability)"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  		 - comparison: "control vs. placenta previa"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   			</a:t>
            </a:r>
            <a:r>
              <a:rPr lang="en-US" sz="2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</a:rPr>
              <a:t>auc</a:t>
            </a: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: 0.88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   			</a:t>
            </a:r>
            <a:r>
              <a:rPr lang="en-US" sz="2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</a:rPr>
              <a:t>sensitivity_pct</a:t>
            </a: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: 100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     			</a:t>
            </a:r>
            <a:r>
              <a:rPr lang="en-US" sz="2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</a:rPr>
              <a:t>specificity_pct</a:t>
            </a: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: 72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     			cutoff: "0.55 (predicted probability)"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	 caveat: &gt;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 dirty="0">
                <a:solidFill>
                  <a:srgbClr val="212121"/>
                </a:solidFill>
                <a:effectLst/>
                <a:uFillTx/>
                <a:latin typeface="Arial"/>
              </a:rPr>
              <a:t>    		 Improves on either marker alone for pathological-vs-			healthy discrimination, but neither the individual 				markers nor this combined model reliably distinguish 			PAS from placenta previa”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12190320" y="29454480"/>
            <a:ext cx="11586600" cy="216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Listing 1</a:t>
            </a:r>
            <a:r>
              <a:rPr lang="en-US" sz="30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: S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nippet of the “Combined Model” section of the Claude-generated YAML file, where a source file cites at least two distinct biomarkers.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51"/>
          <p:cNvSpPr/>
          <p:nvPr/>
        </p:nvSpPr>
        <p:spPr>
          <a:xfrm>
            <a:off x="24171120" y="17507160"/>
            <a:ext cx="8231040" cy="1020240"/>
          </a:xfrm>
          <a:prstGeom prst="rect">
            <a:avLst/>
          </a:prstGeom>
          <a:solidFill>
            <a:srgbClr val="156082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5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Skills, Scope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53"/>
          <p:cNvSpPr/>
          <p:nvPr/>
        </p:nvSpPr>
        <p:spPr>
          <a:xfrm>
            <a:off x="24171120" y="18628200"/>
            <a:ext cx="8231040" cy="1020240"/>
          </a:xfrm>
          <a:prstGeom prst="rect">
            <a:avLst/>
          </a:prstGeom>
          <a:solidFill>
            <a:srgbClr val="156082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5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Technology, Tools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55"/>
          <p:cNvSpPr/>
          <p:nvPr/>
        </p:nvSpPr>
        <p:spPr>
          <a:xfrm>
            <a:off x="24171120" y="16360920"/>
            <a:ext cx="8231040" cy="1020240"/>
          </a:xfrm>
          <a:prstGeom prst="rect">
            <a:avLst/>
          </a:prstGeom>
          <a:solidFill>
            <a:srgbClr val="156082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5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Domain-Specific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Picture 4"/>
          <p:cNvPicPr/>
          <p:nvPr/>
        </p:nvPicPr>
        <p:blipFill>
          <a:blip r:embed="rId4"/>
          <a:stretch/>
        </p:blipFill>
        <p:spPr>
          <a:xfrm>
            <a:off x="24259320" y="36177120"/>
            <a:ext cx="3868560" cy="388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Box 1"/>
          <p:cNvSpPr/>
          <p:nvPr/>
        </p:nvSpPr>
        <p:spPr>
          <a:xfrm>
            <a:off x="28091880" y="37420560"/>
            <a:ext cx="4584600" cy="239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URL</a:t>
            </a:r>
            <a:r>
              <a:rPr lang="en-US" sz="25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: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500" b="0" u="none" strike="noStrike">
                <a:solidFill>
                  <a:srgbClr val="0097A7"/>
                </a:solidFill>
                <a:effectLst/>
                <a:uFillTx/>
                <a:latin typeface="Arial"/>
              </a:rPr>
              <a:t> </a:t>
            </a:r>
            <a:r>
              <a:rPr lang="en-US" sz="2500" b="0" u="sng" strike="noStrike">
                <a:solidFill>
                  <a:srgbClr val="0097A7"/>
                </a:solidFill>
                <a:effectLst/>
                <a:uFillTx/>
                <a:latin typeface="Arial"/>
                <a:hlinkClick r:id="rId5"/>
              </a:rPr>
              <a:t>https://github.com/Jillian-Puskar/Building-an-AI-Powered-Knowledge-Base-for-Biomarkers-of-Abnormal-Placentation-Disorders</a:t>
            </a:r>
            <a:r>
              <a:rPr lang="en-US" sz="2500" b="0" u="none" strike="noStrike">
                <a:solidFill>
                  <a:srgbClr val="0097A7"/>
                </a:solidFill>
                <a:effectLst/>
                <a:uFillTx/>
                <a:latin typeface="Arial"/>
              </a:rPr>
              <a:t> 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1"/>
          <p:cNvSpPr/>
          <p:nvPr/>
        </p:nvSpPr>
        <p:spPr>
          <a:xfrm>
            <a:off x="26470080" y="14832360"/>
            <a:ext cx="3632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500" b="1" u="none" strike="noStrike">
                <a:solidFill>
                  <a:srgbClr val="0097A7"/>
                </a:solidFill>
                <a:effectLst/>
                <a:uFillTx/>
                <a:latin typeface="Arial"/>
              </a:rPr>
              <a:t>Discussion</a:t>
            </a:r>
            <a:endParaRPr lang="en-U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2" name="Picture 10"/>
          <p:cNvPicPr/>
          <p:nvPr/>
        </p:nvPicPr>
        <p:blipFill>
          <a:blip r:embed="rId6"/>
          <a:stretch/>
        </p:blipFill>
        <p:spPr>
          <a:xfrm>
            <a:off x="3445920" y="18248040"/>
            <a:ext cx="8422560" cy="44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Box 4"/>
          <p:cNvSpPr/>
          <p:nvPr/>
        </p:nvSpPr>
        <p:spPr>
          <a:xfrm>
            <a:off x="452520" y="18274320"/>
            <a:ext cx="2993040" cy="37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Figure 1</a:t>
            </a:r>
            <a:r>
              <a:rPr lang="en-US" sz="3000" b="0" u="none" strike="noStrike">
                <a:solidFill>
                  <a:srgbClr val="212121"/>
                </a:solidFill>
                <a:effectLst/>
                <a:uFillTx/>
                <a:latin typeface="Arial"/>
              </a:rPr>
              <a:t>: BioRender graphic showing normal, placenta previa (PP), and placenta accreta spectrum (PAS) placentation.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" name="Picture 17"/>
          <p:cNvPicPr/>
          <p:nvPr/>
        </p:nvPicPr>
        <p:blipFill>
          <a:blip r:embed="rId7"/>
          <a:stretch/>
        </p:blipFill>
        <p:spPr>
          <a:xfrm>
            <a:off x="12114720" y="30836160"/>
            <a:ext cx="11701440" cy="7921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15791</TotalTime>
  <Words>1082</Words>
  <Application>Microsoft Office PowerPoint</Application>
  <PresentationFormat>Custom</PresentationFormat>
  <Paragraphs>124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jp172659@mypacyber.org</dc:creator>
  <dc:description/>
  <cp:lastModifiedBy>jp172659@mypacyber.org</cp:lastModifiedBy>
  <cp:revision>102</cp:revision>
  <dcterms:created xsi:type="dcterms:W3CDTF">2026-07-07T15:49:29Z</dcterms:created>
  <dcterms:modified xsi:type="dcterms:W3CDTF">2026-07-30T14:43:40Z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</vt:i4>
  </property>
</Properties>
</file>